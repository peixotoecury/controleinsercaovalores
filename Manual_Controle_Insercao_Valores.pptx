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4"/>
    <p:sldMasterId id="2147483680" r:id="rId5"/>
    <p:sldMasterId id="2147483674" r:id="rId6"/>
    <p:sldMasterId id="2147483689" r:id="rId7"/>
  </p:sldMasterIdLst>
  <p:notesMasterIdLst>
    <p:notesMasterId r:id="rId11"/>
  </p:notesMasterIdLst>
  <p:handoutMasterIdLst>
    <p:handoutMasterId r:id="rId12"/>
  </p:handoutMasterIdLst>
  <p:sldIdLst>
    <p:sldId id="321" r:id="rId8"/>
    <p:sldId id="325" r:id="rId19"/>
    <p:sldId id="326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34" r:id="rId28"/>
    <p:sldId id="335" r:id="rId29"/>
    <p:sldId id="336" r:id="rId30"/>
    <p:sldId id="337" r:id="rId31"/>
    <p:sldId id="340" r:id="rId34"/>
    <p:sldId id="341" r:id="rId35"/>
    <p:sldId id="338" r:id="rId32"/>
    <p:sldId id="339" r:id="rId33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80E271C-463A-163D-DED4-1BDB463A713F}" name="Peixoto &amp; Cury" initials="P&amp;C" userId="Peixoto &amp; Cury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B5C"/>
    <a:srgbClr val="00A9E0"/>
    <a:srgbClr val="0E2F42"/>
    <a:srgbClr val="4BACC6"/>
    <a:srgbClr val="9BBB59"/>
    <a:srgbClr val="F79646"/>
    <a:srgbClr val="C0504D"/>
    <a:srgbClr val="49C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A17812-A414-4A6D-AE62-49E5A606AF03}" v="64" dt="2025-11-25T13:49:04.471"/>
    <p1510:client id="{421DDA70-0E06-542F-C872-3D2D3922C965}" v="1" dt="2025-11-25T13:41:45.902"/>
    <p1510:client id="{E5448170-1458-FDD7-288A-FC1A68427510}" v="9" dt="2025-11-25T13:48:15.976"/>
  </p1510:revLst>
</p1510:revInfo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5" autoAdjust="0"/>
    <p:restoredTop sz="94574" autoAdjust="0"/>
  </p:normalViewPr>
  <p:slideViewPr>
    <p:cSldViewPr snapToGrid="0">
      <p:cViewPr varScale="1">
        <p:scale>
          <a:sx n="86" d="100"/>
          <a:sy n="86" d="100"/>
        </p:scale>
        <p:origin x="738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3744" y="66"/>
      </p:cViewPr>
      <p:guideLst/>
    </p:cSldViewPr>
  </p:notesViewPr>
  <p:gridSpacing cx="72008" cy="72008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5/10/relationships/revisionInfo" Target="revisionInfo.xml"/><Relationship Id="rId18" Type="http://schemas.microsoft.com/office/2018/10/relationships/authors" Target="authors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9696519-77A5-42E9-9F7C-68841B76CE9F}" type="datetime1">
              <a:rPr lang="pt-BR" smtClean="0"/>
              <a:t>18/06/2026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01C0E-6041-40BD-877C-FB9FBD0CE1C9}" type="datetime1">
              <a:rPr lang="pt-BR" smtClean="0"/>
              <a:pPr/>
              <a:t>18/06/2026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dirty="0"/>
              <a:t>Editar estilos de texto Mestre</a:t>
            </a:r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45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710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9613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78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2505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899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945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0430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theme" Target="../theme/theme2.xml"/><Relationship Id="rId4" Type="http://schemas.openxmlformats.org/officeDocument/2006/relationships/image" Target="../media/image4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3.xml"/><Relationship Id="rId3" Type="http://schemas.openxmlformats.org/officeDocument/2006/relationships/image" Target="../media/image6.svg"/><Relationship Id="rId4" Type="http://schemas.openxmlformats.org/officeDocument/2006/relationships/image" Target="../media/image7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4.xml"/><Relationship Id="rId3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4993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70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5309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6FC3F151-7F1D-F76B-9EEC-91E95CFB387F}"/>
              </a:ext>
            </a:extLst>
          </p:cNvPr>
          <p:cNvSpPr/>
          <p:nvPr userDrawn="1"/>
        </p:nvSpPr>
        <p:spPr>
          <a:xfrm>
            <a:off x="0" y="4688646"/>
            <a:ext cx="12192000" cy="2189018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C78A973-3CB2-3E15-E5F6-AD0B5097078B}"/>
              </a:ext>
            </a:extLst>
          </p:cNvPr>
          <p:cNvSpPr txBox="1"/>
          <p:nvPr userDrawn="1"/>
        </p:nvSpPr>
        <p:spPr>
          <a:xfrm>
            <a:off x="3937959" y="6392618"/>
            <a:ext cx="4316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www.peixotoecury.com.br | peixotoecury@peixotoecury.com.br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DFC5268E-3EF9-A4BB-61C4-C94CBCD2A953}"/>
              </a:ext>
            </a:extLst>
          </p:cNvPr>
          <p:cNvGrpSpPr/>
          <p:nvPr userDrawn="1"/>
        </p:nvGrpSpPr>
        <p:grpSpPr>
          <a:xfrm>
            <a:off x="4021314" y="5134451"/>
            <a:ext cx="4129709" cy="1077218"/>
            <a:chOff x="3960712" y="5134451"/>
            <a:chExt cx="4129709" cy="1077218"/>
          </a:xfrm>
        </p:grpSpPr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63F03632-A627-1DBC-C0EC-7B6D687CDCC3}"/>
                </a:ext>
              </a:extLst>
            </p:cNvPr>
            <p:cNvSpPr txBox="1"/>
            <p:nvPr userDrawn="1"/>
          </p:nvSpPr>
          <p:spPr>
            <a:xfrm>
              <a:off x="6213997" y="5134451"/>
              <a:ext cx="187642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New York</a:t>
              </a:r>
            </a:p>
            <a:p>
              <a:pPr marL="0" marR="0" lvl="0" indent="0" algn="just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200 Park Avenue South</a:t>
              </a:r>
            </a:p>
            <a:p>
              <a:pPr marL="0" marR="0" lvl="0" indent="0" algn="just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Suite</a:t>
              </a:r>
              <a:r>
                <a:rPr kumimoji="0" lang="pt-B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 505/511</a:t>
              </a:r>
            </a:p>
            <a:p>
              <a:pPr marL="0" marR="0" lvl="0" indent="0" algn="just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New York, NY – 10003 – EUA</a:t>
              </a:r>
            </a:p>
            <a:p>
              <a:pPr marL="0" marR="0" lvl="0" indent="0" algn="just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Fone: + 1 212 697-2700 </a:t>
              </a: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endParaRPr>
            </a:p>
          </p:txBody>
        </p:sp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id="{0174AEF0-9F4A-0ED9-A4A6-48D871208308}"/>
                </a:ext>
              </a:extLst>
            </p:cNvPr>
            <p:cNvGrpSpPr/>
            <p:nvPr userDrawn="1"/>
          </p:nvGrpSpPr>
          <p:grpSpPr>
            <a:xfrm>
              <a:off x="3960712" y="5134451"/>
              <a:ext cx="1712500" cy="1077218"/>
              <a:chOff x="3311784" y="5134451"/>
              <a:chExt cx="1712500" cy="1077218"/>
            </a:xfrm>
          </p:grpSpPr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0CBC24F4-34F3-6860-DC40-28DEF106A86C}"/>
                  </a:ext>
                </a:extLst>
              </p:cNvPr>
              <p:cNvSpPr txBox="1"/>
              <p:nvPr userDrawn="1"/>
            </p:nvSpPr>
            <p:spPr>
              <a:xfrm>
                <a:off x="3311784" y="5134451"/>
                <a:ext cx="171250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São Paulo – SP</a:t>
                </a:r>
              </a:p>
              <a:p>
                <a:pPr marL="0" marR="0" lvl="0" indent="0" algn="just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Rua Teixeira da Silva, 560</a:t>
                </a:r>
              </a:p>
              <a:p>
                <a:pPr marL="0" marR="0" lvl="0" indent="0" algn="just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    Rua Mario Amaral, 205</a:t>
                </a:r>
              </a:p>
              <a:p>
                <a:pPr marL="0" marR="0" lvl="0" indent="0" algn="just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Paraíso - 04002-020</a:t>
                </a:r>
              </a:p>
              <a:p>
                <a:pPr marL="0" marR="0" lvl="0" indent="0" algn="just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Fone: (55 11) 3218-8455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endParaRPr>
              </a:p>
            </p:txBody>
          </p:sp>
          <p:pic>
            <p:nvPicPr>
              <p:cNvPr id="12" name="Gráfico 11" descr="Envelope com preenchimento sólido">
                <a:extLst>
                  <a:ext uri="{FF2B5EF4-FFF2-40B4-BE49-F238E27FC236}">
                    <a16:creationId xmlns:a16="http://schemas.microsoft.com/office/drawing/2014/main" id="{E32EDF00-B91C-16A2-8195-561BE38C85B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397212" y="5472647"/>
                <a:ext cx="137566" cy="137566"/>
              </a:xfrm>
              <a:prstGeom prst="rect">
                <a:avLst/>
              </a:prstGeom>
            </p:spPr>
          </p:pic>
        </p:grpSp>
      </p:grpSp>
      <p:pic>
        <p:nvPicPr>
          <p:cNvPr id="14" name="Imagem 13" descr="Logotipo&#10;&#10;Descrição gerada automaticamente">
            <a:extLst>
              <a:ext uri="{FF2B5EF4-FFF2-40B4-BE49-F238E27FC236}">
                <a16:creationId xmlns:a16="http://schemas.microsoft.com/office/drawing/2014/main" id="{9917A9FD-74D9-5ECC-EE54-02D1B38FD0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6235" t="31935" b="31235"/>
          <a:stretch/>
        </p:blipFill>
        <p:spPr>
          <a:xfrm>
            <a:off x="3814977" y="1875503"/>
            <a:ext cx="4562047" cy="179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638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5482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3CFE3B9-AE56-8F8B-F657-7C86531D607E}"/>
              </a:ext>
            </a:extLst>
          </p:cNvPr>
          <p:cNvSpPr txBox="1"/>
          <p:nvPr/>
        </p:nvSpPr>
        <p:spPr>
          <a:xfrm>
            <a:off x="741154" y="2792565"/>
            <a:ext cx="6590984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3000" dirty="0">
                <a:latin typeface="Trebuchet MS" panose="020B0603020202020204" pitchFamily="34" charset="0"/>
              </a:rPr>
              <a:t>Controle de Decisões e Inclusão de Valores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F06AEFF-7141-F98A-D1BE-FB37C9BF32D5}"/>
              </a:ext>
            </a:extLst>
          </p:cNvPr>
          <p:cNvSpPr txBox="1"/>
          <p:nvPr/>
        </p:nvSpPr>
        <p:spPr>
          <a:xfrm>
            <a:off x="741154" y="3822042"/>
            <a:ext cx="659098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>
                <a:solidFill>
                  <a:schemeClr val="bg1"/>
                </a:solidFill>
                <a:latin typeface="Trebuchet MS" panose="020B0603020202020204" pitchFamily="34" charset="0"/>
              </a:rPr>
              <a:t>Manual do Usuário  |  Controladoria / Time B</a:t>
            </a:r>
            <a:endParaRPr lang="pt-BR" sz="2000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165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416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618388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INTRODUÇÃO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Visão Geral do Módulo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O que é: </a:t>
            </a:r>
            <a:r>
              <a:rPr sz="1900">
                <a:solidFill>
                  <a:srgbClr val="2A2A2A"/>
                </a:solidFill>
                <a:latin typeface="Trebuchet MS"/>
              </a:rPr>
              <a:t>ferramenta para solicitar, acompanhar e cobrar cálculos trabalhistas e registrar valores de provisão e acordo.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Acesso: </a:t>
            </a:r>
            <a:r>
              <a:rPr sz="1900">
                <a:solidFill>
                  <a:srgbClr val="2A2A2A"/>
                </a:solidFill>
                <a:latin typeface="Trebuchet MS"/>
              </a:rPr>
              <a:t>peixotoecury.github.io/controleinsercaovalores — sem necessidade de login.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4 abas: </a:t>
            </a:r>
            <a:r>
              <a:rPr sz="1900">
                <a:solidFill>
                  <a:srgbClr val="2A2A2A"/>
                </a:solidFill>
                <a:latin typeface="Trebuchet MS"/>
              </a:rPr>
              <a:t>Solicitações · Cobranças · Inserção de Valores · Lançamento IA.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Tempo real: </a:t>
            </a:r>
            <a:r>
              <a:rPr sz="1900">
                <a:solidFill>
                  <a:srgbClr val="2A2A2A"/>
                </a:solidFill>
                <a:latin typeface="Trebuchet MS"/>
              </a:rPr>
              <a:t>todas as mudanças aparecem instantaneamente para todos os usuários conectados.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SOLICITAÇÕES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Visão Geral da Aba Solicitações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Formulário “Nova Solicitação” </a:t>
            </a:r>
            <a:r>
              <a:rPr sz="1900">
                <a:solidFill>
                  <a:srgbClr val="2A2A2A"/>
                </a:solidFill>
                <a:latin typeface="Trebuchet MS"/>
              </a:rPr>
              <a:t>à esquerda; lista de solicitações já registradas à direita.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Cada solicitação representa uma decisão judicial que precisa de cálculo ou atualização.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A lista exibe status, cliente, processo e as ações disponíveis para cada item.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Filtros </a:t>
            </a:r>
            <a:r>
              <a:rPr sz="1900">
                <a:solidFill>
                  <a:srgbClr val="2A2A2A"/>
                </a:solidFill>
                <a:latin typeface="Trebuchet MS"/>
              </a:rPr>
              <a:t>por status, cliente e responsável facilitam encontrar uma solicitação específica.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SOLICITAÇÕES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Campos Obrigatórios da Nova Solicitação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Cliente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Processo (CNJ)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Reclamante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Reclamada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Juiz / Desembargador / Ministro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Advogado da Parte Contrária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Vara / Turma / Câmara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Comarca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41732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UF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Nome do Perito do Juízo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Data da Decisão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Tipo de Decisão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Advogado que Solicitou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Assistente Responsável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Responsável pela Informação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Observações Adicionais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SOLICITAÇÕES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Campos Condicionais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800" b="1">
                <a:solidFill>
                  <a:srgbClr val="003B5C"/>
                </a:solidFill>
                <a:latin typeface="Trebuchet MS"/>
              </a:rPr>
              <a:t>Tipo de Decisão = Laudo Desfavorável → </a:t>
            </a:r>
            <a:r>
              <a:rPr sz="1800">
                <a:solidFill>
                  <a:srgbClr val="2A2A2A"/>
                </a:solidFill>
                <a:latin typeface="Trebuchet MS"/>
              </a:rPr>
              <a:t>Insalubridade / Periculosidade / Médico / Ergonômico, com motivos detalhados.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800" b="1">
                <a:solidFill>
                  <a:srgbClr val="003B5C"/>
                </a:solidFill>
                <a:latin typeface="Trebuchet MS"/>
              </a:rPr>
              <a:t>Alteração de Prognóstico = Sim → </a:t>
            </a:r>
            <a:r>
              <a:rPr sz="1800">
                <a:solidFill>
                  <a:srgbClr val="2A2A2A"/>
                </a:solidFill>
                <a:latin typeface="Trebuchet MS"/>
              </a:rPr>
              <a:t>Prognóstico Atual e Novo Prognóstico.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800" b="1">
                <a:solidFill>
                  <a:srgbClr val="003B5C"/>
                </a:solidFill>
                <a:latin typeface="Trebuchet MS"/>
              </a:rPr>
              <a:t>Alteração de Fase = Sim → </a:t>
            </a:r>
            <a:r>
              <a:rPr sz="1800">
                <a:solidFill>
                  <a:srgbClr val="2A2A2A"/>
                </a:solidFill>
                <a:latin typeface="Trebuchet MS"/>
              </a:rPr>
              <a:t>Fase Atual e Nova Fase (inclui Recursal TRT/TST).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800" b="1">
                <a:solidFill>
                  <a:srgbClr val="003B5C"/>
                </a:solidFill>
                <a:latin typeface="Trebuchet MS"/>
              </a:rPr>
              <a:t>Cálculo foi Solicitado? Sim / Não / N-A → </a:t>
            </a:r>
            <a:r>
              <a:rPr sz="1800">
                <a:solidFill>
                  <a:srgbClr val="2A2A2A"/>
                </a:solidFill>
                <a:latin typeface="Trebuchet MS"/>
              </a:rPr>
              <a:t>Tipo de Cálculo + Data de Retorno, OU Justificativa.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SOLICITAÇÕES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Ações Disponíveis na Lista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3B5C"/>
                </a:solidFill>
                <a:latin typeface="Trebuchet MS"/>
              </a:rPr>
              <a:t>Concluir</a:t>
            </a:r>
          </a:p>
          <a:p>
            <a:r>
              <a:rPr sz="1350">
                <a:solidFill>
                  <a:srgbClr val="5A5A5A"/>
                </a:solidFill>
                <a:latin typeface="Trebuchet MS"/>
              </a:rPr>
              <a:t>Marca a solicitação como atendida e envia para revisão.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3B5C"/>
                </a:solidFill>
                <a:latin typeface="Trebuchet MS"/>
              </a:rPr>
              <a:t>Reabrir</a:t>
            </a:r>
          </a:p>
          <a:p>
            <a:r>
              <a:rPr sz="1350">
                <a:solidFill>
                  <a:srgbClr val="5A5A5A"/>
                </a:solidFill>
                <a:latin typeface="Trebuchet MS"/>
              </a:rPr>
              <a:t>Retorna a solicitação para a etapa anterior do fluxo.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3B5C"/>
                </a:solidFill>
                <a:latin typeface="Trebuchet MS"/>
              </a:rPr>
              <a:t>Confirmar Revisão</a:t>
            </a:r>
          </a:p>
          <a:p>
            <a:r>
              <a:rPr sz="1350">
                <a:solidFill>
                  <a:srgbClr val="5A5A5A"/>
                </a:solidFill>
                <a:latin typeface="Trebuchet MS"/>
              </a:rPr>
              <a:t>Finaliza o ciclo — o status passa a Revisado.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319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3B5C"/>
                </a:solidFill>
                <a:latin typeface="Trebuchet MS"/>
              </a:rPr>
              <a:t>Excluir</a:t>
            </a:r>
          </a:p>
          <a:p>
            <a:r>
              <a:rPr sz="1350">
                <a:solidFill>
                  <a:srgbClr val="5A5A5A"/>
                </a:solidFill>
                <a:latin typeface="Trebuchet MS"/>
              </a:rPr>
              <a:t>Remove a solicitação definitivamente (exige confirmação).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5A5A"/>
                </a:solidFill>
                <a:latin typeface="Trebuchet MS"/>
              </a:rPr>
              <a:t>Também disponíveis: filtros por status/cliente/responsável, coluna “OK do Assistente” e exportação para Excel.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SOLICITAÇÕES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Fluxo de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3246120" cy="1828800"/>
          </a:xfrm>
          <a:prstGeom prst="roundRect">
            <a:avLst>
              <a:gd name="adj" fmla="val 8000"/>
            </a:avLst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Pendente</a:t>
            </a:r>
          </a:p>
          <a:p>
            <a:pPr algn="ctr"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  <a:latin typeface="Trebuchet MS"/>
              </a:rPr>
              <a:t>Aguardando ação do assistente responsável.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103120"/>
            <a:ext cx="3246120" cy="1828800"/>
          </a:xfrm>
          <a:prstGeom prst="roundRect">
            <a:avLst>
              <a:gd name="adj" fmla="val 8000"/>
            </a:avLst>
          </a:prstGeom>
          <a:solidFill>
            <a:srgbClr val="00A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Aguardando Revisão</a:t>
            </a:r>
          </a:p>
          <a:p>
            <a:pPr algn="ctr"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  <a:latin typeface="Trebuchet MS"/>
              </a:rPr>
              <a:t>Cálculo ou decisão já inserido; aguarda confirmação do advogado.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103120"/>
            <a:ext cx="3246120" cy="1828800"/>
          </a:xfrm>
          <a:prstGeom prst="roundRect">
            <a:avLst>
              <a:gd name="adj" fmla="val 8000"/>
            </a:avLst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Revisado</a:t>
            </a:r>
          </a:p>
          <a:p>
            <a:pPr algn="ctr"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  <a:latin typeface="Trebuchet MS"/>
              </a:rPr>
              <a:t>Ciclo concluído — nenhuma ação pendente.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28803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3B5C"/>
                </a:solidFill>
                <a:latin typeface="Trebuchet M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8803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3B5C"/>
                </a:solidFill>
                <a:latin typeface="Trebuchet MS"/>
              </a:rP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COBRANÇAS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Visão Geral da Aba Cobranças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Reúne, em painéis organizados, tudo o que está pendente de cobrança.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Botão “Cobrar” </a:t>
            </a:r>
            <a:r>
              <a:rPr sz="1900">
                <a:solidFill>
                  <a:srgbClr val="2A2A2A"/>
                </a:solidFill>
                <a:latin typeface="Trebuchet MS"/>
              </a:rPr>
              <a:t>abre um e-mail já pronto para envio, direto no Outlook ou Gmail.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Objetivo: nunca perder um prazo de solicitação, revisão ou retorno de cálculo.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COBRANÇAS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As 5 Categorias de Cobrança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0A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361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3B5C"/>
                </a:solidFill>
                <a:latin typeface="Trebuchet MS"/>
              </a:rPr>
              <a:t>Solicitação de Cálculo Pendente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7627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0A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4942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3B5C"/>
                </a:solidFill>
                <a:latin typeface="Trebuchet MS"/>
              </a:rPr>
              <a:t>Revisão do Cálculo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9504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0A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6265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3B5C"/>
                </a:solidFill>
                <a:latin typeface="Trebuchet MS"/>
              </a:rPr>
              <a:t>Inserção de Decisão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0273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0A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758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3B5C"/>
                </a:solidFill>
                <a:latin typeface="Trebuchet MS"/>
              </a:rPr>
              <a:t>Retorno do Cálculo Vencido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15968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0A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389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3B5C"/>
                </a:solidFill>
                <a:latin typeface="Trebuchet MS"/>
              </a:rPr>
              <a:t>Cálculo Ainda Não Solicitado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COBRANÇAS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Decisão Identificada sem Solicitação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Formulário especial disponível dentro da aba Cobranças.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Usado quando o assistente identifica uma decisão que não passou pelo fluxo normal de solicitação.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Permite registrar o caso diretamente, sem depender de uma solicitação prévia do advogado.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Origem </a:t>
            </a:r>
            <a:r>
              <a:rPr sz="1900">
                <a:solidFill>
                  <a:srgbClr val="2A2A2A"/>
                </a:solidFill>
                <a:latin typeface="Trebuchet MS"/>
              </a:rPr>
              <a:t>fica marcada como “Identificado pelo Assistente” para rastreabilidade.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INSERÇÃO DE VALORES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Visão Geral da Aba Inserção de Valores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Onde são lançados os valores financeiros dos processos.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Campos principais: </a:t>
            </a:r>
            <a:r>
              <a:rPr sz="1900">
                <a:solidFill>
                  <a:srgbClr val="2A2A2A"/>
                </a:solidFill>
                <a:latin typeface="Trebuchet MS"/>
              </a:rPr>
              <a:t>Provisão/Accrual Atual, Novo Valor, Link do Cálculo (PDF).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Alerta automático </a:t>
            </a:r>
            <a:r>
              <a:rPr sz="1900">
                <a:solidFill>
                  <a:srgbClr val="2A2A2A"/>
                </a:solidFill>
                <a:latin typeface="Trebuchet MS"/>
              </a:rPr>
              <a:t>para valores acima de R$ 400.000,00.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INSERÇÃO DE VALORES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Painel “Inserir / Atualizar Valores”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Utilizado para processos que já existem no sistema.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Selecione Cliente e Processo nos menus suspensos.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Os dados do caso são preenchidos automaticamente.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Basta atualizar o valor desejado e salvar.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INSERÇÃO DE VALORES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Card “Cadastrar Caso Novo”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Para casos antigos que nunca passaram pela aba Solicitações.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O sistema avisa se o processo já existir, evitando duplicidade.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Campos extras: </a:t>
            </a:r>
            <a:r>
              <a:rPr sz="1900">
                <a:solidFill>
                  <a:srgbClr val="2A2A2A"/>
                </a:solidFill>
                <a:latin typeface="Trebuchet MS"/>
              </a:rPr>
              <a:t>Inserido no LM, Inserido no Sistema, Teve Revisão.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INSERÇÃO DE VALORES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Alerta: Valores Acima de R$ 400.000,00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Pergunta obrigatória: </a:t>
            </a:r>
            <a:r>
              <a:rPr sz="1900">
                <a:solidFill>
                  <a:srgbClr val="2A2A2A"/>
                </a:solidFill>
                <a:latin typeface="Trebuchet MS"/>
              </a:rPr>
              <a:t>“Já foi enviado para o cliente?” (Sim / Não).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Se Não → </a:t>
            </a:r>
            <a:r>
              <a:rPr sz="1900">
                <a:solidFill>
                  <a:srgbClr val="2A2A2A"/>
                </a:solidFill>
                <a:latin typeface="Trebuchet MS"/>
              </a:rPr>
              <a:t>é obrigatório informar uma Justificativa.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Objetivo: rastrear valores relevantes que exigem aprovação ou comunicação prévia ao cliente.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COMUNICAÇÃO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Como Funcionam os E-mails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087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3B5C"/>
                </a:solidFill>
                <a:latin typeface="Trebuchet MS"/>
              </a:rPr>
              <a:t>O sistema não envia e-mail sozinho</a:t>
            </a:r>
          </a:p>
          <a:p>
            <a:r>
              <a:rPr sz="1350">
                <a:solidFill>
                  <a:srgbClr val="5A5A5A"/>
                </a:solidFill>
                <a:latin typeface="Trebuchet MS"/>
              </a:rPr>
              <a:t>Cada botão de cobrança apenas prepara a mensagem.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3B5C"/>
                </a:solidFill>
                <a:latin typeface="Trebuchet MS"/>
              </a:rPr>
              <a:t>Abre um rascunho pronto</a:t>
            </a:r>
          </a:p>
          <a:p>
            <a:r>
              <a:rPr sz="1350">
                <a:solidFill>
                  <a:srgbClr val="5A5A5A"/>
                </a:solidFill>
                <a:latin typeface="Trebuchet MS"/>
              </a:rPr>
              <a:t>No Outlook ou Gmail, já com destinatário e texto preenchidos.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118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3B5C"/>
                </a:solidFill>
                <a:latin typeface="Trebuchet MS"/>
              </a:rPr>
              <a:t>O envio é sempre manual</a:t>
            </a:r>
          </a:p>
          <a:p>
            <a:r>
              <a:rPr sz="1350">
                <a:solidFill>
                  <a:srgbClr val="5A5A5A"/>
                </a:solidFill>
                <a:latin typeface="Trebuchet MS"/>
              </a:rPr>
              <a:t>O usuário revisa e clica em enviar.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PERGUNTAS FREQUENTES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Perguntas Frequentes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800" b="1">
                <a:solidFill>
                  <a:srgbClr val="003B5C"/>
                </a:solidFill>
                <a:latin typeface="Trebuchet MS"/>
              </a:rPr>
              <a:t>Meus dados não aparecem: </a:t>
            </a:r>
            <a:r>
              <a:rPr sz="1800">
                <a:solidFill>
                  <a:srgbClr val="2A2A2A"/>
                </a:solidFill>
                <a:latin typeface="Trebuchet MS"/>
              </a:rPr>
              <a:t>pode ser cache do navegador — use Ctrl+Shift+R para atualizar.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800" b="1">
                <a:solidFill>
                  <a:srgbClr val="003B5C"/>
                </a:solidFill>
                <a:latin typeface="Trebuchet MS"/>
              </a:rPr>
              <a:t>Alguns campos estão bloqueados: </a:t>
            </a:r>
            <a:r>
              <a:rPr sz="1800">
                <a:solidFill>
                  <a:srgbClr val="2A2A2A"/>
                </a:solidFill>
                <a:latin typeface="Trebuchet MS"/>
              </a:rPr>
              <a:t>escolha um processo primeiro para liberá-los.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800" b="1">
                <a:solidFill>
                  <a:srgbClr val="003B5C"/>
                </a:solidFill>
                <a:latin typeface="Trebuchet MS"/>
              </a:rPr>
              <a:t>“N/A”: </a:t>
            </a:r>
            <a:r>
              <a:rPr sz="1800">
                <a:solidFill>
                  <a:srgbClr val="2A2A2A"/>
                </a:solidFill>
                <a:latin typeface="Trebuchet MS"/>
              </a:rPr>
              <a:t>indica um campo que ficou vazio (não se aplica ao caso).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800" b="1">
                <a:solidFill>
                  <a:srgbClr val="003B5C"/>
                </a:solidFill>
                <a:latin typeface="Trebuchet MS"/>
              </a:rPr>
              <a:t>Vários usuários ao mesmo tempo: </a:t>
            </a:r>
            <a:r>
              <a:rPr sz="1800">
                <a:solidFill>
                  <a:srgbClr val="2A2A2A"/>
                </a:solidFill>
                <a:latin typeface="Trebuchet MS"/>
              </a:rPr>
              <a:t>sem problema — tudo funciona em tempo real.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800" b="1">
                <a:solidFill>
                  <a:srgbClr val="003B5C"/>
                </a:solidFill>
                <a:latin typeface="Trebuchet MS"/>
              </a:rPr>
              <a:t>Excluir uma solicitação: </a:t>
            </a:r>
            <a:r>
              <a:rPr sz="1800">
                <a:solidFill>
                  <a:srgbClr val="2A2A2A"/>
                </a:solidFill>
                <a:latin typeface="Trebuchet MS"/>
              </a:rPr>
              <a:t>é definitivo e não pode ser desfeito.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5A5A"/>
                </a:solidFill>
                <a:latin typeface="Trebuchet MS"/>
              </a:rPr>
              <a:t>Dúvidas? Fale com a Controladoria — Time B.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LANÇAMENTO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Visão Geral da Aba Lançamento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Ferramenta de apoio: extrai valores de um cálculo (PDF, XLSX ou texto) pra montar o quadro de verbas antes da Inserção de Valores.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Não gera e-mail e não salva no banco de dados: </a:t>
            </a:r>
            <a:r>
              <a:rPr sz="1900">
                <a:solidFill>
                  <a:srgbClr val="2A2A2A"/>
                </a:solidFill>
                <a:latin typeface="Trebuchet MS"/>
              </a:rPr>
              <a:t>é só leitura automática — sempre confira antes de usar.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Como funciona: </a:t>
            </a:r>
            <a:r>
              <a:rPr sz="1900">
                <a:solidFill>
                  <a:srgbClr val="2A2A2A"/>
                </a:solidFill>
                <a:latin typeface="Trebuchet MS"/>
              </a:rPr>
              <a:t>suba o arquivo e clique em “Preencher valores automaticamente” — o sistema monta uma grade editável com Pedido, Principal, Juros, Total e Probabilidade.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Leitura por posição real do PDF </a:t>
            </a:r>
            <a:r>
              <a:rPr sz="1900">
                <a:solidFill>
                  <a:srgbClr val="2A2A2A"/>
                </a:solidFill>
                <a:latin typeface="Trebuchet MS"/>
              </a:rPr>
              <a:t>(mais confiável, funciona até com páginas rotacionadas) ou busca por palavra-chave como reserva, quando o documento não tem tabela padrão.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Débitos com terceiros </a:t>
            </a:r>
            <a:r>
              <a:rPr sz="1900">
                <a:solidFill>
                  <a:srgbClr val="2A2A2A"/>
                </a:solidFill>
                <a:latin typeface="Trebuchet MS"/>
              </a:rPr>
              <a:t>(honorários, contribuição social): aparecem numa caixa separada, só de referência — não entram em nenhuma soma.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LANÇAMENTO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Histórico, Provisão e Accrual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O botão “Levar Histórico/Provisão/Accrual para Inserção de Valores” calcula três valores a partir da grade de verbas: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Novo Valor do Histórico: </a:t>
            </a:r>
            <a:r>
              <a:rPr sz="1900">
                <a:solidFill>
                  <a:srgbClr val="2A2A2A"/>
                </a:solidFill>
                <a:latin typeface="Trebuchet MS"/>
              </a:rPr>
              <a:t>soma do Principal de todas as verbas — valor na data da distribuição, sem correção nem juros.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Novo Valor da Provisão: </a:t>
            </a:r>
            <a:r>
              <a:rPr sz="1900">
                <a:solidFill>
                  <a:srgbClr val="2A2A2A"/>
                </a:solidFill>
                <a:latin typeface="Trebuchet MS"/>
              </a:rPr>
              <a:t>soma do Total de todas as verbas — valor corrigido + juros, melhor estimativa atual do passivo.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Novo Valor do Accrual: </a:t>
            </a:r>
            <a:r>
              <a:rPr sz="1900">
                <a:solidFill>
                  <a:srgbClr val="2A2A2A"/>
                </a:solidFill>
                <a:latin typeface="Trebuchet MS"/>
              </a:rPr>
              <a:t>percentual da Fase do processo (selecionada na aba) × soma do Principal só das verbas marcadas como Provável.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Percentual por Fase: </a:t>
            </a:r>
            <a:r>
              <a:rPr sz="1900">
                <a:solidFill>
                  <a:srgbClr val="2A2A2A"/>
                </a:solidFill>
                <a:latin typeface="Trebuchet MS"/>
              </a:rPr>
              <a:t>Fase 1 (Conhecimento e Instrução) = 40,5% · Fase 2 (Recursal TRT/TST) = 54% · Fase 3 (Execução) = 100% do provável.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Sem Fase selecionada: </a:t>
            </a:r>
            <a:r>
              <a:rPr sz="1900">
                <a:solidFill>
                  <a:srgbClr val="2A2A2A"/>
                </a:solidFill>
                <a:latin typeface="Trebuchet MS"/>
              </a:rPr>
              <a:t>o Accrual não é calculado — preencha manualmente na aba Inserção de Valores.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4396B5B9F01FE4AA680AB9B6D71883E" ma:contentTypeVersion="17" ma:contentTypeDescription="Crie um novo documento." ma:contentTypeScope="" ma:versionID="9aab40c0ca19821beac8457c15f70eb0">
  <xsd:schema xmlns:xsd="http://www.w3.org/2001/XMLSchema" xmlns:xs="http://www.w3.org/2001/XMLSchema" xmlns:p="http://schemas.microsoft.com/office/2006/metadata/properties" xmlns:ns2="605982dd-42b3-4241-8d29-2f6aa4108e40" xmlns:ns3="b9041aef-40a2-4c80-8917-1e440a033ca3" targetNamespace="http://schemas.microsoft.com/office/2006/metadata/properties" ma:root="true" ma:fieldsID="481a35633ee3ff7355f37ab4b7335877" ns2:_="" ns3:_="">
    <xsd:import namespace="605982dd-42b3-4241-8d29-2f6aa4108e40"/>
    <xsd:import namespace="b9041aef-40a2-4c80-8917-1e440a033c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_Flow_SignoffStatu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5982dd-42b3-4241-8d29-2f6aa4108e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46599513-44b7-4e47-a1c8-b36c755b24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20" nillable="true" ma:displayName="Status de liberação" ma:internalName="Status_x0020_de_x0020_libera_x00e7__x00e3_o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041aef-40a2-4c80-8917-1e440a033ca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7d1b78c-a72b-4e49-bb3d-c96d06213ab7}" ma:internalName="TaxCatchAll" ma:showField="CatchAllData" ma:web="b9041aef-40a2-4c80-8917-1e440a033ca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05982dd-42b3-4241-8d29-2f6aa4108e40">
      <Terms xmlns="http://schemas.microsoft.com/office/infopath/2007/PartnerControls"/>
    </lcf76f155ced4ddcb4097134ff3c332f>
    <TaxCatchAll xmlns="b9041aef-40a2-4c80-8917-1e440a033ca3" xsi:nil="true"/>
    <_Flow_SignoffStatus xmlns="605982dd-42b3-4241-8d29-2f6aa4108e40" xsi:nil="true"/>
  </documentManagement>
</p:properties>
</file>

<file path=customXml/itemProps1.xml><?xml version="1.0" encoding="utf-8"?>
<ds:datastoreItem xmlns:ds="http://schemas.openxmlformats.org/officeDocument/2006/customXml" ds:itemID="{4012234B-8B4D-4A4F-8F8A-6B36B572F0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5982dd-42b3-4241-8d29-2f6aa4108e40"/>
    <ds:schemaRef ds:uri="b9041aef-40a2-4c80-8917-1e440a033ca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EA6B67A-8D1E-46E8-A29D-D6886634FD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2218FC-8412-44B9-9E82-D51F1F531141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b9041aef-40a2-4c80-8917-1e440a033ca3"/>
    <ds:schemaRef ds:uri="605982dd-42b3-4241-8d29-2f6aa4108e4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brilhante de negócios</Template>
  <TotalTime>155</TotalTime>
  <Words>2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3</vt:i4>
      </vt:variant>
    </vt:vector>
  </HeadingPairs>
  <TitlesOfParts>
    <vt:vector size="12" baseType="lpstr">
      <vt:lpstr>Abadi Extra Light</vt:lpstr>
      <vt:lpstr>Arial</vt:lpstr>
      <vt:lpstr>Calibri</vt:lpstr>
      <vt:lpstr>Trebuchet MS</vt:lpstr>
      <vt:lpstr>Verdana</vt:lpstr>
      <vt:lpstr>3_Personalizar design</vt:lpstr>
      <vt:lpstr>Personalizar design</vt:lpstr>
      <vt:lpstr>2_Personalizar design</vt:lpstr>
      <vt:lpstr>1_Personalizar design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Beatriz Melo Bresquiliari | Peixoto &amp; Cury</dc:creator>
  <cp:lastModifiedBy>Ana Carolina Martini | Peixoto &amp; Cury</cp:lastModifiedBy>
  <cp:revision>30</cp:revision>
  <dcterms:created xsi:type="dcterms:W3CDTF">2022-02-15T14:25:46Z</dcterms:created>
  <dcterms:modified xsi:type="dcterms:W3CDTF">2026-06-18T13:49:16Z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0x010100E4396B5B9F01FE4AA680AB9B6D71883E</vt:lpwstr>
  </property>
  <property fmtid="{D5CDD505-2E9C-101B-9397-08002B2CF9AE}" pid="3" name="MediaServiceImageTags">
    <vt:lpwstr/>
  </property>
</Properties>
</file>